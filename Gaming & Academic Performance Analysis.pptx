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A579C-01CD-4D2F-9AF9-8F9C0809821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A86BE-7F1D-4F13-B5CC-905B0F879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85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A4F4-E1E4-4D8E-6832-119DF817C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6D81C-1F80-6CEA-E4A4-A4BE6706D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D3EC8-C63E-BAC8-AB9D-7A392A68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09F53-827D-65C4-ECDB-4AEADFA2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791B0-133F-CF14-C132-24F23253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0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381E-B59E-D452-910A-218A5890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395B9-D943-2076-3CD5-2DC15CE99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F8A31-AA90-FC02-AE37-3D6809398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EEB19-853F-F526-D92C-C822A71E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73641-73F7-5048-0C6E-AA46686C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7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F1A0-8FE6-C0F9-20F1-C01F2EC2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19D99-D4CF-45AA-15DC-404D0B921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8982A-E609-D6D4-231C-16009E798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1A638-0097-3777-9240-18BB4DD8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3664B-915D-8F27-5E45-6F900A9F2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9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7785-A4C4-A8E9-CADB-C4528EA0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B2C4-7333-6817-6C0B-542129B88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D4DFF-7206-541F-3F2B-FA9310156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19E1A-1CAB-FA85-041A-F0C66C0F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9AEDF-7B48-5C6D-3395-40BA125E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BC9F9-72C5-E268-29B6-5EF97B5A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2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CCFC-DCC3-8E90-ED62-5BDFFACD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97FE2-CE91-8F0D-C113-65A54AEB5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E05F2-CAD9-4C66-0322-C08048660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0E20A-7912-426B-2A29-6563D89AE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68DB9-B7DE-066A-1D5E-6A5946326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B576E-A26B-1EE6-6952-F60C1C1FF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EC43B-A57A-B77E-C967-0DE04BD9E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51546-E855-942E-4808-EE01D684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0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8D7B-73AE-8696-86CB-DB8B636C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07AB6-C769-34D9-C068-28A9F1E6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3D408-A5D9-B6CD-5D29-A5EFE0F0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1F92E-EA6E-59AA-4FFA-408D4C37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1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E683F-5CA8-2196-EA81-D06E0284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778B9-2B71-42B3-C9D8-9B7C7A657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21CFD-BB08-4D1A-0ED6-7FD4BBF0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5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D147-79FB-9CD3-10D5-0363E317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C3CE-C329-64B4-E55F-D9CF2616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BD9E1-831B-996D-880A-4426FE7D2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2FE10-2D69-48F4-16E9-782CE164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545CA-A815-7C54-5D7D-7BC1E850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EC427-C2FA-41FF-2B89-A6A6D5F7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2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16DE4-4EA5-684A-C41A-0167ED12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A06BC-E8F1-76A4-3D0B-FF603B93F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480DD-798C-B1D4-35F0-78BB0D850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DAE91-D287-3B88-B455-F571C20D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33325-14B1-1B1E-326F-7879E8BD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C99A0-9934-670E-1007-F6B2FC8F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6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0BD05-17BA-FB68-8496-51443A9C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A216B-4AA2-98D6-8FA2-04695FA11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D3184-437C-3ADC-068F-BE05FD30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73451-CAF0-A371-CD2E-B6FDB5EA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D9774-BBBF-3138-0BF6-1027D7CA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4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CE5DB-94BD-1BC8-8B28-A08A20689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92345-CADB-D7D1-4925-3EC1444B3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D9899-43B9-4DA1-1EE5-5FCA87C2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515A-48D0-8945-231B-13AA195A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41C3B-3792-3A21-5532-EBAE671C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8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F7B62-4C2F-A54A-5F00-005D2FDD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2C673-7436-3D1F-9C7E-5F0603DFB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77F55-8E0F-2419-D5D4-3BFE5A553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CA816-E988-48FB-9F58-42AC1EF6141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42C03-5B24-BDDE-09B6-208AF68F1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1E020-FCEC-8387-F31D-C788CBBBE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F06A1-93E8-4819-89AA-9E73A029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5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E7EF-DAE7-889A-7E1A-CEA733174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Gaming &amp; Academic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A21BB-F1FF-0D71-B973-DF6A83427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Deep-Dive Analysis &amp; Statistical Validation</a:t>
            </a:r>
          </a:p>
        </p:txBody>
      </p:sp>
    </p:spTree>
    <p:extLst>
      <p:ext uri="{BB962C8B-B14F-4D97-AF65-F5344CB8AC3E}">
        <p14:creationId xmlns:p14="http://schemas.microsoft.com/office/powerpoint/2010/main" val="206634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9456D-982A-5F7A-194A-6BAF0DD0E655}"/>
              </a:ext>
            </a:extLst>
          </p:cNvPr>
          <p:cNvSpPr txBox="1"/>
          <p:nvPr/>
        </p:nvSpPr>
        <p:spPr>
          <a:xfrm>
            <a:off x="452284" y="344129"/>
            <a:ext cx="86818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Students spend increasing time on gaming.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Academic performance may be affected.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data-driven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relationship between gaming and grades.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b="1" dirty="0"/>
          </a:p>
        </p:txBody>
      </p:sp>
      <p:sp>
        <p:nvSpPr>
          <p:cNvPr id="3" name="AutoShape 2" descr="The research model.">
            <a:extLst>
              <a:ext uri="{FF2B5EF4-FFF2-40B4-BE49-F238E27FC236}">
                <a16:creationId xmlns:a16="http://schemas.microsoft.com/office/drawing/2014/main" id="{E87485F9-7B9F-C251-B19A-6D45F461E3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Internet and Video Games: Causes of Behavioral Disorders in Children and  Teenagers">
            <a:extLst>
              <a:ext uri="{FF2B5EF4-FFF2-40B4-BE49-F238E27FC236}">
                <a16:creationId xmlns:a16="http://schemas.microsoft.com/office/drawing/2014/main" id="{EA07DFA0-3971-B42B-7C74-553E005A0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5" y="2495857"/>
            <a:ext cx="52387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49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8550F-5010-1009-3122-4C1431074843}"/>
              </a:ext>
            </a:extLst>
          </p:cNvPr>
          <p:cNvSpPr txBox="1"/>
          <p:nvPr/>
        </p:nvSpPr>
        <p:spPr>
          <a:xfrm>
            <a:off x="334297" y="265471"/>
            <a:ext cx="9261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Information:</a:t>
            </a:r>
          </a:p>
          <a:p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EBC4D7-71A8-4C40-EFD5-CF48BFA36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011170"/>
              </p:ext>
            </p:extLst>
          </p:nvPr>
        </p:nvGraphicFramePr>
        <p:xfrm>
          <a:off x="1963174" y="872885"/>
          <a:ext cx="7633110" cy="2024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555">
                  <a:extLst>
                    <a:ext uri="{9D8B030D-6E8A-4147-A177-3AD203B41FA5}">
                      <a16:colId xmlns:a16="http://schemas.microsoft.com/office/drawing/2014/main" val="1530701534"/>
                    </a:ext>
                  </a:extLst>
                </a:gridCol>
                <a:gridCol w="3816555">
                  <a:extLst>
                    <a:ext uri="{9D8B030D-6E8A-4147-A177-3AD203B41FA5}">
                      <a16:colId xmlns:a16="http://schemas.microsoft.com/office/drawing/2014/main" val="335817127"/>
                    </a:ext>
                  </a:extLst>
                </a:gridCol>
              </a:tblGrid>
              <a:tr h="404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556245"/>
                  </a:ext>
                </a:extLst>
              </a:tr>
              <a:tr h="404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334565"/>
                  </a:ext>
                </a:extLst>
              </a:tr>
              <a:tr h="404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397909"/>
                  </a:ext>
                </a:extLst>
              </a:tr>
              <a:tr h="404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Gaming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72791"/>
                  </a:ext>
                </a:extLst>
              </a:tr>
              <a:tr h="404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CSV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3223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5C92BB2-C829-23BE-7BC8-16CA50E9564F}"/>
              </a:ext>
            </a:extLst>
          </p:cNvPr>
          <p:cNvSpPr txBox="1"/>
          <p:nvPr/>
        </p:nvSpPr>
        <p:spPr>
          <a:xfrm>
            <a:off x="334297" y="3144135"/>
            <a:ext cx="107269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Important Features:</a:t>
            </a:r>
          </a:p>
          <a:p>
            <a:endParaRPr lang="en-US" b="1" dirty="0"/>
          </a:p>
          <a:p>
            <a:r>
              <a:rPr lang="en-US" dirty="0" err="1"/>
              <a:t>gaming_hours</a:t>
            </a:r>
            <a:endParaRPr lang="en-US" dirty="0"/>
          </a:p>
          <a:p>
            <a:r>
              <a:rPr lang="en-US" dirty="0" err="1"/>
              <a:t>study_hours</a:t>
            </a:r>
            <a:endParaRPr lang="en-US" dirty="0"/>
          </a:p>
          <a:p>
            <a:r>
              <a:rPr lang="en-US" dirty="0" err="1"/>
              <a:t>sleep_hours</a:t>
            </a:r>
            <a:endParaRPr lang="en-US" dirty="0"/>
          </a:p>
          <a:p>
            <a:r>
              <a:rPr lang="en-US" dirty="0"/>
              <a:t>grades</a:t>
            </a:r>
          </a:p>
          <a:p>
            <a:r>
              <a:rPr lang="en-US" dirty="0" err="1"/>
              <a:t>addiction_score</a:t>
            </a:r>
            <a:endParaRPr lang="en-US" dirty="0"/>
          </a:p>
          <a:p>
            <a:r>
              <a:rPr lang="en-US" dirty="0" err="1"/>
              <a:t>stress_level</a:t>
            </a:r>
            <a:endParaRPr lang="en-US" dirty="0"/>
          </a:p>
          <a:p>
            <a:r>
              <a:rPr lang="en-US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5D44DB-7927-2DCD-9572-8EE91E64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670" y="3144135"/>
            <a:ext cx="8768735" cy="339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622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9DB5C0-58FD-9095-C361-BCE3F7BC40B9}"/>
              </a:ext>
            </a:extLst>
          </p:cNvPr>
          <p:cNvSpPr txBox="1"/>
          <p:nvPr/>
        </p:nvSpPr>
        <p:spPr>
          <a:xfrm>
            <a:off x="334297" y="294968"/>
            <a:ext cx="54470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CLEANING &amp; WRANGLING: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Checked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Standardized column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Verified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Prepared ready analysis dataset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F41557-4882-CB04-A9B8-533A16AB9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711081"/>
              </p:ext>
            </p:extLst>
          </p:nvPr>
        </p:nvGraphicFramePr>
        <p:xfrm>
          <a:off x="1121650" y="2869227"/>
          <a:ext cx="9693840" cy="3484848"/>
        </p:xfrm>
        <a:graphic>
          <a:graphicData uri="http://schemas.openxmlformats.org/drawingml/2006/table">
            <a:tbl>
              <a:tblPr/>
              <a:tblGrid>
                <a:gridCol w="646256">
                  <a:extLst>
                    <a:ext uri="{9D8B030D-6E8A-4147-A177-3AD203B41FA5}">
                      <a16:colId xmlns:a16="http://schemas.microsoft.com/office/drawing/2014/main" val="1183457816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2631791162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1658550534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4232303064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1821311116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4147468755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4173037337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427761698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2593923033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2994397232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3176960379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1580785521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1002086405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3019240956"/>
                    </a:ext>
                  </a:extLst>
                </a:gridCol>
                <a:gridCol w="646256">
                  <a:extLst>
                    <a:ext uri="{9D8B030D-6E8A-4147-A177-3AD203B41FA5}">
                      <a16:colId xmlns:a16="http://schemas.microsoft.com/office/drawing/2014/main" val="2763289765"/>
                    </a:ext>
                  </a:extLst>
                </a:gridCol>
              </a:tblGrid>
              <a:tr h="77515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1400">
                        <a:effectLst/>
                      </a:endParaRP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student_id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age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gender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gaming_hours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 err="1">
                          <a:effectLst/>
                        </a:rPr>
                        <a:t>study_hours</a:t>
                      </a:r>
                      <a:endParaRPr lang="en-US" sz="1400" dirty="0">
                        <a:effectLst/>
                      </a:endParaRP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sleep_hours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attendance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gaming_genre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social_activity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device_usage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reaction_time_ms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addiction_score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stress_level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grades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611196"/>
                  </a:ext>
                </a:extLst>
              </a:tr>
              <a:tr h="54193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22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Male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7.23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8.78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6.96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91.44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FPS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3.25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9.36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235.84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14.69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Low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86.459555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19795"/>
                  </a:ext>
                </a:extLst>
              </a:tr>
              <a:tr h="54193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19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Male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0.07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8.72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7.63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63.63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Casual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1.02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3.21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328.71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2.47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Medium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98.230000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686447"/>
                  </a:ext>
                </a:extLst>
              </a:tr>
              <a:tr h="54193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Female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1.73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9.56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4.40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83.26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Casual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3.46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5.56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313.61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4.73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High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90.560000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11186"/>
                  </a:ext>
                </a:extLst>
              </a:tr>
              <a:tr h="54193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20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Female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6.62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1.68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7.83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75.04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RPG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1.46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11.78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241.84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14.54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Low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32.670000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961269"/>
                  </a:ext>
                </a:extLst>
              </a:tr>
              <a:tr h="54193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22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Female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5.36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5.83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5.55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65.57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FPS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1.01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8.23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249.31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12.48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Low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58.710000</a:t>
                      </a:r>
                    </a:p>
                  </a:txBody>
                  <a:tcPr marL="69069" marR="69069" marT="34534" marB="345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955094"/>
                  </a:ext>
                </a:extLst>
              </a:tr>
            </a:tbl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BE6228DF-4BC1-E625-3579-24C34ECC9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98" y="2422951"/>
            <a:ext cx="145043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 of Cleaned Dataset:</a:t>
            </a:r>
          </a:p>
        </p:txBody>
      </p:sp>
    </p:spTree>
    <p:extLst>
      <p:ext uri="{BB962C8B-B14F-4D97-AF65-F5344CB8AC3E}">
        <p14:creationId xmlns:p14="http://schemas.microsoft.com/office/powerpoint/2010/main" val="4923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F2BCE-0FA1-3A8F-7714-869D7D5E2BA7}"/>
              </a:ext>
            </a:extLst>
          </p:cNvPr>
          <p:cNvSpPr txBox="1"/>
          <p:nvPr/>
        </p:nvSpPr>
        <p:spPr>
          <a:xfrm>
            <a:off x="285135" y="294968"/>
            <a:ext cx="8888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EXPLORATORY DATA ANALYSIS (EDA):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A6005-DFFB-0651-9685-05FCEF021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11" y="756633"/>
            <a:ext cx="3859498" cy="2713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F02ABE-EC96-93F4-256D-FA49E1D42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593" y="859641"/>
            <a:ext cx="3696929" cy="2528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9B8262-3DAE-59B6-3415-781A88263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40" y="3611905"/>
            <a:ext cx="4077239" cy="2742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BC190D-ABE3-31EA-5AFB-A6B5C0D9E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271" y="3655152"/>
            <a:ext cx="4270731" cy="269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9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9E84D-3049-7283-2E78-728B18F9E9A1}"/>
              </a:ext>
            </a:extLst>
          </p:cNvPr>
          <p:cNvSpPr txBox="1"/>
          <p:nvPr/>
        </p:nvSpPr>
        <p:spPr>
          <a:xfrm>
            <a:off x="245806" y="235974"/>
            <a:ext cx="5201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CORRELATION &amp; RELATIONSHIPS</a:t>
            </a:r>
            <a:r>
              <a:rPr lang="en-US" dirty="0"/>
              <a:t>: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514646F-9F97-8BFE-9763-B90A24623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8" y="904568"/>
            <a:ext cx="4180956" cy="369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AD71A4-2826-26CE-AFCC-03C374BAF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071" y="931607"/>
            <a:ext cx="6082461" cy="3694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938C7A-32FC-45E0-A29C-11D278C9A132}"/>
              </a:ext>
            </a:extLst>
          </p:cNvPr>
          <p:cNvSpPr txBox="1"/>
          <p:nvPr/>
        </p:nvSpPr>
        <p:spPr>
          <a:xfrm>
            <a:off x="442452" y="4876800"/>
            <a:ext cx="97929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</a:p>
          <a:p>
            <a:r>
              <a:rPr lang="en-US" sz="1200" dirty="0"/>
              <a:t> </a:t>
            </a:r>
            <a:br>
              <a:rPr lang="en-US" dirty="0"/>
            </a:br>
            <a:r>
              <a:rPr lang="en-US" dirty="0"/>
              <a:t>• Negative relation between gaming and grades </a:t>
            </a:r>
            <a:br>
              <a:rPr lang="en-US" dirty="0"/>
            </a:br>
            <a:r>
              <a:rPr lang="en-US" dirty="0"/>
              <a:t>• Sleep positively affects performance</a:t>
            </a:r>
          </a:p>
        </p:txBody>
      </p:sp>
    </p:spTree>
    <p:extLst>
      <p:ext uri="{BB962C8B-B14F-4D97-AF65-F5344CB8AC3E}">
        <p14:creationId xmlns:p14="http://schemas.microsoft.com/office/powerpoint/2010/main" val="2878236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429B87-0168-1499-01B4-527DF8681AB8}"/>
              </a:ext>
            </a:extLst>
          </p:cNvPr>
          <p:cNvSpPr txBox="1"/>
          <p:nvPr/>
        </p:nvSpPr>
        <p:spPr>
          <a:xfrm>
            <a:off x="422787" y="304800"/>
            <a:ext cx="418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 OVERVIEW: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DE26F3-89D9-F9DB-9975-A155B239F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42" y="812395"/>
            <a:ext cx="10074513" cy="55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5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831CDD-2082-C5D6-0DC0-2AF89A1C409F}"/>
              </a:ext>
            </a:extLst>
          </p:cNvPr>
          <p:cNvSpPr txBox="1"/>
          <p:nvPr/>
        </p:nvSpPr>
        <p:spPr>
          <a:xfrm>
            <a:off x="560439" y="953729"/>
            <a:ext cx="50439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HYPOTHESIS TESTING:</a:t>
            </a:r>
            <a:endParaRPr lang="en-US" sz="1200" b="1" dirty="0"/>
          </a:p>
          <a:p>
            <a:endParaRPr lang="en-US" sz="1200" b="1" dirty="0"/>
          </a:p>
          <a:p>
            <a:r>
              <a:rPr lang="en-US" b="1" dirty="0"/>
              <a:t>Hypothesis</a:t>
            </a:r>
          </a:p>
          <a:p>
            <a:r>
              <a:rPr lang="en-US" b="1" dirty="0"/>
              <a:t>H₀</a:t>
            </a:r>
          </a:p>
          <a:p>
            <a:r>
              <a:rPr lang="en-US" dirty="0"/>
              <a:t>Gaming does not affect grades.</a:t>
            </a:r>
          </a:p>
          <a:p>
            <a:r>
              <a:rPr lang="en-US" b="1" dirty="0"/>
              <a:t>H₁</a:t>
            </a:r>
          </a:p>
          <a:p>
            <a:r>
              <a:rPr lang="en-US" dirty="0"/>
              <a:t>Gaming affects grades.</a:t>
            </a:r>
          </a:p>
          <a:p>
            <a:endParaRPr lang="en-US" dirty="0"/>
          </a:p>
          <a:p>
            <a:r>
              <a:rPr lang="en-US" b="1" dirty="0"/>
              <a:t>Cell Output:</a:t>
            </a:r>
          </a:p>
          <a:p>
            <a:endParaRPr lang="en-US" sz="1200" b="1" dirty="0"/>
          </a:p>
          <a:p>
            <a:r>
              <a:rPr lang="en-US" b="1" dirty="0"/>
              <a:t>Correlation value:</a:t>
            </a:r>
            <a:r>
              <a:rPr lang="en-US" dirty="0"/>
              <a:t>-0.5513117134349623</a:t>
            </a:r>
            <a:endParaRPr lang="en-US" b="1" dirty="0"/>
          </a:p>
          <a:p>
            <a:r>
              <a:rPr lang="en-US" b="1" dirty="0"/>
              <a:t>-p value:</a:t>
            </a:r>
            <a:r>
              <a:rPr lang="en-US" dirty="0"/>
              <a:t>0.0</a:t>
            </a:r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b="1" dirty="0"/>
              <a:t>Conclusion:</a:t>
            </a:r>
          </a:p>
          <a:p>
            <a:endParaRPr lang="en-US" sz="1200" dirty="0"/>
          </a:p>
          <a:p>
            <a:r>
              <a:rPr lang="en-US" dirty="0"/>
              <a:t>Reject Null Hypothesis.</a:t>
            </a:r>
          </a:p>
          <a:p>
            <a:endParaRPr lang="en-US" sz="1200" b="1" dirty="0"/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3FBE7FE6-19AC-1E44-04CD-E11D932EB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747" y="1165654"/>
            <a:ext cx="580072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53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FD7AF-8CAF-1CE8-30FD-0CFB8810CBAB}"/>
              </a:ext>
            </a:extLst>
          </p:cNvPr>
          <p:cNvSpPr txBox="1"/>
          <p:nvPr/>
        </p:nvSpPr>
        <p:spPr>
          <a:xfrm>
            <a:off x="1179872" y="717754"/>
            <a:ext cx="51226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RECOMMENDATIONS:</a:t>
            </a:r>
            <a:endParaRPr lang="en-US" sz="1200" b="1" dirty="0"/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Encourage balanced gaming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Promote time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 wellness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 addiction patterns</a:t>
            </a:r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7176" name="Picture 8" descr="Ill-effects of Gaming and Remedial actions | by SiddharthN | Medium">
            <a:extLst>
              <a:ext uri="{FF2B5EF4-FFF2-40B4-BE49-F238E27FC236}">
                <a16:creationId xmlns:a16="http://schemas.microsoft.com/office/drawing/2014/main" id="{6CFA7E57-FE33-1EA0-8B76-78F635209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154" y="1453931"/>
            <a:ext cx="3962400" cy="255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Video Games and Depression: How Gaming Affects Mental Health">
            <a:extLst>
              <a:ext uri="{FF2B5EF4-FFF2-40B4-BE49-F238E27FC236}">
                <a16:creationId xmlns:a16="http://schemas.microsoft.com/office/drawing/2014/main" id="{0C874693-8B8A-4110-FC23-3B3358FD5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9" y="3266156"/>
            <a:ext cx="6331973" cy="3124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939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D2CD0A-D3C3-316E-C0A5-DA72DF1BC50C}"/>
              </a:ext>
            </a:extLst>
          </p:cNvPr>
          <p:cNvSpPr txBox="1"/>
          <p:nvPr/>
        </p:nvSpPr>
        <p:spPr>
          <a:xfrm>
            <a:off x="3293808" y="1858297"/>
            <a:ext cx="59583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Conclusion:</a:t>
            </a:r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dirty="0"/>
              <a:t>Gaming behavior affects academic performance. </a:t>
            </a:r>
          </a:p>
          <a:p>
            <a:r>
              <a:rPr lang="en-US" dirty="0"/>
              <a:t>Statistical analysis validated findings. </a:t>
            </a:r>
          </a:p>
          <a:p>
            <a:r>
              <a:rPr lang="en-US" dirty="0"/>
              <a:t>Dashboard provides actionable insights.</a:t>
            </a: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B390E-6E2C-80B0-FFBE-8F0817D3B01B}"/>
              </a:ext>
            </a:extLst>
          </p:cNvPr>
          <p:cNvSpPr txBox="1"/>
          <p:nvPr/>
        </p:nvSpPr>
        <p:spPr>
          <a:xfrm>
            <a:off x="1995948" y="3893574"/>
            <a:ext cx="7806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30791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Widescreen</PresentationFormat>
  <Paragraphs>171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Gaming &amp; Academic Performance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Tejasathvika Mutte</dc:creator>
  <cp:lastModifiedBy>Tejasathvika Mutte</cp:lastModifiedBy>
  <cp:revision>1</cp:revision>
  <dcterms:created xsi:type="dcterms:W3CDTF">2026-05-18T17:18:05Z</dcterms:created>
  <dcterms:modified xsi:type="dcterms:W3CDTF">2026-05-18T17:18:24Z</dcterms:modified>
</cp:coreProperties>
</file>